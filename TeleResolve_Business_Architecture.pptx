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370" y="-2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TeleResolve — Telecom Complaint Handling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B0F0"/>
                </a:solidFill>
              </a:rPr>
              <a:t>Business Architecture — As-Is Process | To-Be Process |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274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172C4"/>
                </a:solidFill>
              </a:rPr>
              <a:t>Prepared by: TeleResolve Team  |  April 2026  | 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</a:rPr>
              <a:t>© 2026 TeleResolve.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6. Business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B0F0"/>
                </a:solidFill>
              </a:rPr>
              <a:t>Business Process (As-Is) — Manual Complaint Handling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594360"/>
            <a:ext cx="11795760" cy="5852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640080"/>
            <a:ext cx="1005840" cy="1371600"/>
          </a:xfrm>
          <a:prstGeom prst="rect">
            <a:avLst/>
          </a:prstGeom>
          <a:solidFill>
            <a:srgbClr val="00336A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" y="914400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2011680"/>
            <a:ext cx="106984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" y="2057400"/>
            <a:ext cx="1005840" cy="1371600"/>
          </a:xfrm>
          <a:prstGeom prst="rect">
            <a:avLst/>
          </a:prstGeom>
          <a:solidFill>
            <a:srgbClr val="00336A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1168" y="2331720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Contact
Center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3429000"/>
            <a:ext cx="106984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82880" y="3474720"/>
            <a:ext cx="1005840" cy="1371600"/>
          </a:xfrm>
          <a:prstGeom prst="rect">
            <a:avLst/>
          </a:prstGeom>
          <a:solidFill>
            <a:srgbClr val="00336A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1168" y="3749039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Manager /
Supervisor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4846320"/>
            <a:ext cx="106984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82880" y="4892040"/>
            <a:ext cx="1005840" cy="1371600"/>
          </a:xfrm>
          <a:prstGeom prst="rect">
            <a:avLst/>
          </a:prstGeom>
          <a:solidFill>
            <a:srgbClr val="00336A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1168" y="5166359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Network
Engineer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6263640"/>
            <a:ext cx="106984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88720" y="640080"/>
            <a:ext cx="10698480" cy="1371600"/>
          </a:xfrm>
          <a:prstGeom prst="rect">
            <a:avLst/>
          </a:prstGeom>
          <a:solidFill>
            <a:srgbClr val="E9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88720" y="2057400"/>
            <a:ext cx="10698480" cy="13716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88720" y="3474720"/>
            <a:ext cx="10698480" cy="1371600"/>
          </a:xfrm>
          <a:prstGeom prst="rect">
            <a:avLst/>
          </a:prstGeom>
          <a:solidFill>
            <a:srgbClr val="E9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88720" y="4892040"/>
            <a:ext cx="10698480" cy="13716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325880" y="749808"/>
            <a:ext cx="594360" cy="411480"/>
          </a:xfrm>
          <a:prstGeom prst="ellipse">
            <a:avLst/>
          </a:prstGeom>
          <a:solidFill>
            <a:srgbClr val="00336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FFFFFF"/>
                </a:solidFill>
              </a:rPr>
              <a:t>Start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920240" y="955547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iamond 24"/>
          <p:cNvSpPr/>
          <p:nvPr/>
        </p:nvSpPr>
        <p:spPr>
          <a:xfrm>
            <a:off x="2286000" y="676656"/>
            <a:ext cx="777240" cy="566928"/>
          </a:xfrm>
          <a:prstGeom prst="diamond">
            <a:avLst/>
          </a:prstGeom>
          <a:solidFill>
            <a:srgbClr val="005BB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Existing
Customer?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81528" y="795528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00336A"/>
                </a:solidFill>
              </a:rPr>
              <a:t>No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063240" y="960120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429000" y="749808"/>
            <a:ext cx="777240" cy="411480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Register
(Manual Form)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06240" y="955547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572000" y="749808"/>
            <a:ext cx="822960" cy="411480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Phone / Web
Complaint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131673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00336A"/>
                </a:solidFill>
              </a:rPr>
              <a:t>Yes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679192" y="1316736"/>
            <a:ext cx="0" cy="804672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325880" y="2176272"/>
            <a:ext cx="822960" cy="411480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Receive
Call/Request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148840" y="2382012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514600" y="2176272"/>
            <a:ext cx="822960" cy="411480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Manual
Categorization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337560" y="2382012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703320" y="2176272"/>
            <a:ext cx="822960" cy="411480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Create Ticket
(Spreadsheet)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26280" y="2382012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Diamond 38"/>
          <p:cNvSpPr/>
          <p:nvPr/>
        </p:nvSpPr>
        <p:spPr>
          <a:xfrm>
            <a:off x="4892040" y="2103120"/>
            <a:ext cx="777240" cy="566928"/>
          </a:xfrm>
          <a:prstGeom prst="diamond">
            <a:avLst/>
          </a:prstGeom>
          <a:solidFill>
            <a:srgbClr val="005BB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Resolved
by Agent?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87568" y="2221991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00336A"/>
                </a:solidFill>
              </a:rPr>
              <a:t>Yes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669280" y="2386584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035040" y="2176272"/>
            <a:ext cx="822960" cy="411480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Notify
Customer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858000" y="2382012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7223760" y="2176272"/>
            <a:ext cx="822960" cy="411480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Close &amp;
Manual Report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046720" y="2382012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412480" y="2176272"/>
            <a:ext cx="548640" cy="411480"/>
          </a:xfrm>
          <a:prstGeom prst="ellipse">
            <a:avLst/>
          </a:prstGeom>
          <a:solidFill>
            <a:srgbClr val="00336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57800" y="274320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00336A"/>
                </a:solidFill>
              </a:rPr>
              <a:t>No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285232" y="2743200"/>
            <a:ext cx="0" cy="804672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325880" y="3593592"/>
            <a:ext cx="822960" cy="411480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Manual
Escalation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148840" y="3799332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2514600" y="3593592"/>
            <a:ext cx="822960" cy="411480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Review &amp;
Prioritize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337560" y="3799332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Diamond 52"/>
          <p:cNvSpPr/>
          <p:nvPr/>
        </p:nvSpPr>
        <p:spPr>
          <a:xfrm>
            <a:off x="3703320" y="3520440"/>
            <a:ext cx="777240" cy="566928"/>
          </a:xfrm>
          <a:prstGeom prst="diamond">
            <a:avLst/>
          </a:prstGeom>
          <a:solidFill>
            <a:srgbClr val="005BB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Network
Issue?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98848" y="363931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00336A"/>
                </a:solidFill>
              </a:rPr>
              <a:t>No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480560" y="3803904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4846320" y="3593592"/>
            <a:ext cx="822960" cy="411480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Manual
Resolution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5669280" y="2587752"/>
            <a:ext cx="1188720" cy="121158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087368" y="41605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00336A"/>
                </a:solidFill>
              </a:rPr>
              <a:t>Yes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096512" y="4160520"/>
            <a:ext cx="0" cy="804672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1325880" y="5010912"/>
            <a:ext cx="822960" cy="411480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Manual Site
Investigation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148840" y="5216652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514600" y="5010912"/>
            <a:ext cx="822960" cy="411480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Identify Root
Cause (Manual)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337560" y="5216652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3703320" y="5010912"/>
            <a:ext cx="822960" cy="411480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Parameter
Change (Manual)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4526280" y="5216652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4892040" y="5010912"/>
            <a:ext cx="914400" cy="411480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Email Approval
(No Tracking)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806440" y="5216652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172200" y="5010912"/>
            <a:ext cx="822960" cy="411480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Implement
Change</a:t>
            </a:r>
          </a:p>
        </p:txBody>
      </p:sp>
      <p:cxnSp>
        <p:nvCxnSpPr>
          <p:cNvPr id="69" name="Connector 68"/>
          <p:cNvCxnSpPr/>
          <p:nvPr/>
        </p:nvCxnSpPr>
        <p:spPr>
          <a:xfrm flipH="1" flipV="1">
            <a:off x="5285232" y="4005072"/>
            <a:ext cx="1709928" cy="121158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8288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</a:rPr>
              <a:t>© 2026 TeleResolve. Confidential  |  Business Architecture — As-Is Process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6. Business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00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B0F0"/>
                </a:solidFill>
              </a:rPr>
              <a:t>Business Process (To-Be) — TeleResolve AI-Powered Complaint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594360"/>
            <a:ext cx="11795760" cy="5852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640080"/>
            <a:ext cx="1005840" cy="1325880"/>
          </a:xfrm>
          <a:prstGeom prst="rect">
            <a:avLst/>
          </a:prstGeom>
          <a:solidFill>
            <a:srgbClr val="00336A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" y="896112"/>
            <a:ext cx="969264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640080"/>
            <a:ext cx="10698480" cy="1325880"/>
          </a:xfrm>
          <a:prstGeom prst="rect">
            <a:avLst/>
          </a:prstGeom>
          <a:solidFill>
            <a:srgbClr val="E9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" y="1965960"/>
            <a:ext cx="117043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2880" y="2011680"/>
            <a:ext cx="1005840" cy="1005840"/>
          </a:xfrm>
          <a:prstGeom prst="rect">
            <a:avLst/>
          </a:prstGeom>
          <a:solidFill>
            <a:srgbClr val="00336A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8" y="2267712"/>
            <a:ext cx="9692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Admin
Approval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2011680"/>
            <a:ext cx="10698480" cy="10058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2880" y="3017520"/>
            <a:ext cx="117043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82880" y="3063240"/>
            <a:ext cx="1005840" cy="1417320"/>
          </a:xfrm>
          <a:prstGeom prst="rect">
            <a:avLst/>
          </a:prstGeom>
          <a:solidFill>
            <a:srgbClr val="00336A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1168" y="3319272"/>
            <a:ext cx="96926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TeleResolve
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3063240"/>
            <a:ext cx="10698480" cy="1417320"/>
          </a:xfrm>
          <a:prstGeom prst="rect">
            <a:avLst/>
          </a:prstGeom>
          <a:solidFill>
            <a:srgbClr val="E9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82880" y="4480560"/>
            <a:ext cx="117043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82880" y="4526280"/>
            <a:ext cx="1005840" cy="1417320"/>
          </a:xfrm>
          <a:prstGeom prst="rect">
            <a:avLst/>
          </a:prstGeom>
          <a:solidFill>
            <a:srgbClr val="00336A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1168" y="4782312"/>
            <a:ext cx="96926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Agent /
Engineer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4526280"/>
            <a:ext cx="10698480" cy="141732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2880" y="5943600"/>
            <a:ext cx="117043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280160" y="777240"/>
            <a:ext cx="548640" cy="384048"/>
          </a:xfrm>
          <a:prstGeom prst="ellipse">
            <a:avLst/>
          </a:prstGeom>
          <a:solidFill>
            <a:srgbClr val="00336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FFFFFF"/>
                </a:solidFill>
              </a:rPr>
              <a:t>Start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28800" y="969264"/>
            <a:ext cx="32004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iamond 24"/>
          <p:cNvSpPr/>
          <p:nvPr/>
        </p:nvSpPr>
        <p:spPr>
          <a:xfrm>
            <a:off x="2148840" y="713232"/>
            <a:ext cx="749808" cy="530352"/>
          </a:xfrm>
          <a:prstGeom prst="diamond">
            <a:avLst/>
          </a:prstGeom>
          <a:solidFill>
            <a:srgbClr val="005BB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Existing
User?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07792" y="817884"/>
            <a:ext cx="347472" cy="19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00336A"/>
                </a:solidFill>
              </a:rPr>
              <a:t>No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898648" y="969264"/>
            <a:ext cx="347472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246120" y="777240"/>
            <a:ext cx="804672" cy="384048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Self-Register
(Web/App)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50791" y="969264"/>
            <a:ext cx="365761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416552" y="777240"/>
            <a:ext cx="804672" cy="384048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Create
Password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221224" y="969264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586984" y="777240"/>
            <a:ext cx="804672" cy="384048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OTP
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87168" y="1307592"/>
            <a:ext cx="457200" cy="19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00336A"/>
                </a:solidFill>
              </a:rPr>
              <a:t>Yes</a:t>
            </a:r>
          </a:p>
        </p:txBody>
      </p:sp>
      <p:cxnSp>
        <p:nvCxnSpPr>
          <p:cNvPr id="34" name="Connector 33"/>
          <p:cNvCxnSpPr>
            <a:cxnSpLocks/>
          </p:cNvCxnSpPr>
          <p:nvPr/>
        </p:nvCxnSpPr>
        <p:spPr>
          <a:xfrm>
            <a:off x="2523744" y="1307592"/>
            <a:ext cx="0" cy="658368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692640" y="777240"/>
            <a:ext cx="804672" cy="384048"/>
          </a:xfrm>
          <a:prstGeom prst="rect">
            <a:avLst/>
          </a:prstGeom>
          <a:solidFill>
            <a:srgbClr val="00336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Login to
TeleResolve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391656" y="969264"/>
            <a:ext cx="3300984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094976" y="969264"/>
            <a:ext cx="402336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0497312" y="777240"/>
            <a:ext cx="804672" cy="384048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Select
Sector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899648" y="1161288"/>
            <a:ext cx="0" cy="2039112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cxnSpLocks/>
            <a:stCxn id="28" idx="2"/>
          </p:cNvCxnSpPr>
          <p:nvPr/>
        </p:nvCxnSpPr>
        <p:spPr>
          <a:xfrm>
            <a:off x="3648456" y="1161288"/>
            <a:ext cx="0" cy="1033272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/>
          <p:cNvSpPr/>
          <p:nvPr/>
        </p:nvSpPr>
        <p:spPr>
          <a:xfrm>
            <a:off x="3246120" y="2130552"/>
            <a:ext cx="804672" cy="530352"/>
          </a:xfrm>
          <a:prstGeom prst="diamond">
            <a:avLst/>
          </a:prstGeom>
          <a:solidFill>
            <a:srgbClr val="005BB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Admin
Approval?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9080" y="2258567"/>
            <a:ext cx="338328" cy="19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dirty="0">
                <a:solidFill>
                  <a:srgbClr val="00336A"/>
                </a:solidFill>
              </a:rPr>
              <a:t>Yes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023360" y="2399788"/>
            <a:ext cx="365761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4416552" y="2176272"/>
            <a:ext cx="804672" cy="384048"/>
          </a:xfrm>
          <a:prstGeom prst="rect">
            <a:avLst/>
          </a:prstGeom>
          <a:solidFill>
            <a:srgbClr val="70AD4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Account
Activated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221224" y="2368296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586984" y="2176272"/>
            <a:ext cx="804672" cy="384048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Email OTP
Sent</a:t>
            </a:r>
          </a:p>
        </p:txBody>
      </p:sp>
      <p:cxnSp>
        <p:nvCxnSpPr>
          <p:cNvPr id="47" name="Connector 46"/>
          <p:cNvCxnSpPr>
            <a:cxnSpLocks/>
          </p:cNvCxnSpPr>
          <p:nvPr/>
        </p:nvCxnSpPr>
        <p:spPr>
          <a:xfrm flipH="1" flipV="1">
            <a:off x="4654296" y="1161288"/>
            <a:ext cx="1572768" cy="1014648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505456" y="2239608"/>
            <a:ext cx="457200" cy="19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dirty="0">
                <a:solidFill>
                  <a:srgbClr val="00336A"/>
                </a:solidFill>
              </a:rPr>
              <a:t>No</a:t>
            </a:r>
          </a:p>
        </p:txBody>
      </p:sp>
      <p:cxnSp>
        <p:nvCxnSpPr>
          <p:cNvPr id="49" name="Connector 48"/>
          <p:cNvCxnSpPr>
            <a:cxnSpLocks/>
            <a:stCxn id="41" idx="1"/>
          </p:cNvCxnSpPr>
          <p:nvPr/>
        </p:nvCxnSpPr>
        <p:spPr>
          <a:xfrm flipH="1">
            <a:off x="2103120" y="2395728"/>
            <a:ext cx="1143000" cy="18288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1280160" y="2267712"/>
            <a:ext cx="804672" cy="384048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Rejection
Email Sent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80160" y="3200400"/>
            <a:ext cx="841248" cy="384048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AI Chatbot
Session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121408" y="3392424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Diamond 52"/>
          <p:cNvSpPr/>
          <p:nvPr/>
        </p:nvSpPr>
        <p:spPr>
          <a:xfrm>
            <a:off x="2487168" y="3136392"/>
            <a:ext cx="749808" cy="530352"/>
          </a:xfrm>
          <a:prstGeom prst="diamond">
            <a:avLst/>
          </a:prstGeom>
          <a:solidFill>
            <a:srgbClr val="005BB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Resolved
by AI?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36976" y="3234268"/>
            <a:ext cx="365760" cy="19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dirty="0">
                <a:solidFill>
                  <a:srgbClr val="00336A"/>
                </a:solidFill>
              </a:rPr>
              <a:t>Yes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236976" y="3421211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3602736" y="3200400"/>
            <a:ext cx="804672" cy="384048"/>
          </a:xfrm>
          <a:prstGeom prst="rect">
            <a:avLst/>
          </a:prstGeom>
          <a:solidFill>
            <a:srgbClr val="70AD4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Customer
Feedback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407408" y="3392424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4773168" y="3200400"/>
            <a:ext cx="804672" cy="384048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Session
Closed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577840" y="3392424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943600" y="3200400"/>
            <a:ext cx="502920" cy="384048"/>
          </a:xfrm>
          <a:prstGeom prst="ellipse">
            <a:avLst/>
          </a:prstGeom>
          <a:solidFill>
            <a:srgbClr val="00336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34639" y="3547871"/>
            <a:ext cx="457199" cy="19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dirty="0">
                <a:solidFill>
                  <a:srgbClr val="00336A"/>
                </a:solidFill>
              </a:rPr>
              <a:t>No</a:t>
            </a:r>
          </a:p>
        </p:txBody>
      </p:sp>
      <p:cxnSp>
        <p:nvCxnSpPr>
          <p:cNvPr id="62" name="Connector 61"/>
          <p:cNvCxnSpPr>
            <a:cxnSpLocks/>
            <a:stCxn id="61" idx="1"/>
          </p:cNvCxnSpPr>
          <p:nvPr/>
        </p:nvCxnSpPr>
        <p:spPr>
          <a:xfrm>
            <a:off x="2834639" y="3644051"/>
            <a:ext cx="27433" cy="214717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2487168" y="3858768"/>
            <a:ext cx="749808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Escalate
to Ticket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236976" y="4050791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3602736" y="3858768"/>
            <a:ext cx="804672" cy="384048"/>
          </a:xfrm>
          <a:prstGeom prst="rect">
            <a:avLst/>
          </a:prstGeom>
          <a:solidFill>
            <a:srgbClr val="ED7D3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SLA Timer
Started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4407408" y="4050791"/>
            <a:ext cx="0" cy="521209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7315200" y="3200400"/>
            <a:ext cx="822960" cy="384048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Live KPI
Dashboard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21040" y="3200400"/>
            <a:ext cx="822960" cy="384048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SLA Alert
Monitor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326880" y="3200400"/>
            <a:ext cx="822960" cy="384048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Analytics &amp;
Reports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332720" y="3200400"/>
            <a:ext cx="822960" cy="384048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Change
Requests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280160" y="4663440"/>
            <a:ext cx="841248" cy="384048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Ticket
Assigned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2121408" y="4855464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2487168" y="4663440"/>
            <a:ext cx="804672" cy="384048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Network AI
Diagnosis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3291840" y="4855464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Diamond 74"/>
          <p:cNvSpPr/>
          <p:nvPr/>
        </p:nvSpPr>
        <p:spPr>
          <a:xfrm>
            <a:off x="3657600" y="4599431"/>
            <a:ext cx="777240" cy="530352"/>
          </a:xfrm>
          <a:prstGeom prst="diamond">
            <a:avLst/>
          </a:prstGeom>
          <a:solidFill>
            <a:srgbClr val="005BB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Network
Issue?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38828" y="4674954"/>
            <a:ext cx="429768" cy="19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dirty="0">
                <a:solidFill>
                  <a:srgbClr val="00336A"/>
                </a:solidFill>
              </a:rPr>
              <a:t>Yes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4434840" y="4855464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4800600" y="4663440"/>
            <a:ext cx="841248" cy="384048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Root Cause
Analysis (AI)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641848" y="4855464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6007608" y="4663440"/>
            <a:ext cx="841248" cy="384048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CR / Param
Change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6848856" y="4855464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7214616" y="4663440"/>
            <a:ext cx="841248" cy="384048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Mgr / CTO
Approval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8055864" y="4855464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8421624" y="4663440"/>
            <a:ext cx="841248" cy="384048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Implement
Change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23360" y="4992624"/>
            <a:ext cx="438912" cy="19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00336A"/>
                </a:solidFill>
              </a:rPr>
              <a:t>No</a:t>
            </a:r>
          </a:p>
        </p:txBody>
      </p:sp>
      <p:cxnSp>
        <p:nvCxnSpPr>
          <p:cNvPr id="86" name="Connector 85"/>
          <p:cNvCxnSpPr>
            <a:cxnSpLocks/>
          </p:cNvCxnSpPr>
          <p:nvPr/>
        </p:nvCxnSpPr>
        <p:spPr>
          <a:xfrm flipH="1">
            <a:off x="4050791" y="5184984"/>
            <a:ext cx="1" cy="228264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3657600" y="5413248"/>
            <a:ext cx="804672" cy="384048"/>
          </a:xfrm>
          <a:prstGeom prst="rect">
            <a:avLst/>
          </a:prstGeom>
          <a:solidFill>
            <a:srgbClr val="4172C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Billing /
SIM Issue Fix</a:t>
            </a:r>
          </a:p>
        </p:txBody>
      </p:sp>
      <p:cxnSp>
        <p:nvCxnSpPr>
          <p:cNvPr id="88" name="Connector 87"/>
          <p:cNvCxnSpPr/>
          <p:nvPr/>
        </p:nvCxnSpPr>
        <p:spPr>
          <a:xfrm flipV="1">
            <a:off x="4462272" y="5047488"/>
            <a:ext cx="3959352" cy="557784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262872" y="4855464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9628632" y="4663440"/>
            <a:ext cx="841248" cy="384048"/>
          </a:xfrm>
          <a:prstGeom prst="rect">
            <a:avLst/>
          </a:prstGeom>
          <a:solidFill>
            <a:srgbClr val="70AD4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0">
                <a:solidFill>
                  <a:srgbClr val="FFFFFF"/>
                </a:solidFill>
              </a:rPr>
              <a:t>Ticket
Resolved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10469880" y="4855464"/>
            <a:ext cx="365760" cy="0"/>
          </a:xfrm>
          <a:prstGeom prst="line">
            <a:avLst/>
          </a:prstGeom>
          <a:ln w="19050">
            <a:solidFill>
              <a:srgbClr val="00336A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10835640" y="4663440"/>
            <a:ext cx="548640" cy="384048"/>
          </a:xfrm>
          <a:prstGeom prst="ellipse">
            <a:avLst/>
          </a:prstGeom>
          <a:solidFill>
            <a:srgbClr val="00336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8288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</a:rPr>
              <a:t>© 2026 TeleResolve. Confidential  |  Business Architecture — To-Be 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7.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00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B0F0"/>
                </a:solidFill>
              </a:rPr>
              <a:t>TeleResolve Platform Implementation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594360"/>
            <a:ext cx="11795760" cy="5852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ED7D31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280160"/>
            <a:ext cx="15179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TeleResolve
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960120"/>
            <a:ext cx="2560320" cy="502920"/>
          </a:xfrm>
          <a:prstGeom prst="roundRect">
            <a:avLst>
              <a:gd name="adj" fmla="val 2000"/>
            </a:avLst>
          </a:prstGeom>
          <a:solidFill>
            <a:srgbClr val="70AD4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67712" y="10515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097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70AD47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960120"/>
            <a:ext cx="2560320" cy="502920"/>
          </a:xfrm>
          <a:prstGeom prst="roundRect">
            <a:avLst>
              <a:gd name="adj" fmla="val 2000"/>
            </a:avLst>
          </a:prstGeom>
          <a:solidFill>
            <a:srgbClr val="70AD4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93792" y="10515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Transition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097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70AD47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960120"/>
            <a:ext cx="2560320" cy="502920"/>
          </a:xfrm>
          <a:prstGeom prst="roundRect">
            <a:avLst>
              <a:gd name="adj" fmla="val 2000"/>
            </a:avLst>
          </a:prstGeom>
          <a:solidFill>
            <a:srgbClr val="70AD4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19872" y="10515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Target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1554480"/>
            <a:ext cx="2560320" cy="4389120"/>
          </a:xfrm>
          <a:prstGeom prst="rect">
            <a:avLst/>
          </a:prstGeom>
          <a:solidFill>
            <a:srgbClr val="F0F5FF"/>
          </a:solidFill>
          <a:ln w="10160">
            <a:solidFill>
              <a:srgbClr val="41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86000" y="164592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336A"/>
                </a:solidFill>
              </a:rPr>
              <a:t>Phase-In (Start):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1892808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dirty="0">
                <a:solidFill>
                  <a:srgbClr val="000000"/>
                </a:solidFill>
              </a:rPr>
              <a:t>Pilot deployment to 1 telecom zone; Core chatbot, ticket &amp; agent module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69748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336A"/>
                </a:solidFill>
              </a:rPr>
              <a:t>Phase-In (End):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944368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</a:rPr>
              <a:t>Pilot readiness validated; Customer &amp; Agent roles tested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749039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336A"/>
                </a:solidFill>
              </a:rPr>
              <a:t>Phase-Out (Start):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995927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</a:rPr>
              <a:t>Manual spreadsheet complaints begin reduction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80060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336A"/>
                </a:solidFill>
              </a:rPr>
              <a:t>Phase-Out (End):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047488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</a:rPr>
              <a:t>Pilot zone fully on TeleResolve; manual process retired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1554480"/>
            <a:ext cx="2560320" cy="4389120"/>
          </a:xfrm>
          <a:prstGeom prst="rect">
            <a:avLst/>
          </a:prstGeom>
          <a:solidFill>
            <a:srgbClr val="F0F5FF"/>
          </a:solidFill>
          <a:ln w="10160">
            <a:solidFill>
              <a:srgbClr val="41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12079" y="164592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336A"/>
                </a:solidFill>
              </a:rPr>
              <a:t>Phase-In (Start):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9" y="1892808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</a:rPr>
              <a:t>UAT rollout to all zones; Manager, CTO &amp; Network AI modules enabled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79" y="269748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336A"/>
                </a:solidFill>
              </a:rPr>
              <a:t>Phase-In (End):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9" y="2944368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</a:rPr>
              <a:t>Controlled production rollout complete; SLA tracking 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9" y="3749039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336A"/>
                </a:solidFill>
              </a:rPr>
              <a:t>Phase-Out (Start):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3995927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</a:rPr>
              <a:t>Legacy email/phone workflows sunset begins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79" y="480060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336A"/>
                </a:solidFill>
              </a:rPr>
              <a:t>Phase-Out (End):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79" y="5047488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</a:rPr>
              <a:t>Spreadsheet trackers retired; full migration to TeleResolve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1554480"/>
            <a:ext cx="2560320" cy="4389120"/>
          </a:xfrm>
          <a:prstGeom prst="rect">
            <a:avLst/>
          </a:prstGeom>
          <a:solidFill>
            <a:srgbClr val="F0F5FF"/>
          </a:solidFill>
          <a:ln w="10160">
            <a:solidFill>
              <a:srgbClr val="41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38160" y="164592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336A"/>
                </a:solidFill>
              </a:rPr>
              <a:t>Phase-In (Start):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1892808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</a:rPr>
              <a:t>Full deployment across all telecom circles; ML pipeline &amp; Change Workflow fully 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269748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336A"/>
                </a:solidFill>
              </a:rPr>
              <a:t>Phase-In (End):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2944368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</a:rPr>
              <a:t>Full business adoption; all 5 roles active across zones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3749039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336A"/>
                </a:solidFill>
              </a:rPr>
              <a:t>Phase-Out (Start):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3995927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</a:rPr>
              <a:t>Legacy manual processes fully retired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480060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336A"/>
                </a:solidFill>
              </a:rPr>
              <a:t>Phase-Out (End):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5047488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</a:rPr>
              <a:t>100% digital, AI-powered complaint resolution; WhatsApp &amp; Email alerts active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943600"/>
            <a:ext cx="11612880" cy="41148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5980176"/>
            <a:ext cx="11247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B0F0"/>
                </a:solidFill>
              </a:rPr>
              <a:t>Target KPIs:  ⬇ Complaint Resolution Time 60%  |  ⬆ CSAT Score &gt; 85%  |  ⬆ SLA Compliance &gt; 95%  |  ⬇ Manual Effort 80%  |  ⬆ First-Contact Resolution &gt; 70%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8288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</a:rPr>
              <a:t>© 2026 TeleResolve. Confidential  |  Implementation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553</Words>
  <Application>Microsoft Office PowerPoint</Application>
  <PresentationFormat>Custom</PresentationFormat>
  <Paragraphs>119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Didardeep Kaur</cp:lastModifiedBy>
  <cp:revision>2</cp:revision>
  <dcterms:created xsi:type="dcterms:W3CDTF">2013-01-27T09:14:16Z</dcterms:created>
  <dcterms:modified xsi:type="dcterms:W3CDTF">2026-04-20T12:46:11Z</dcterms:modified>
  <cp:category/>
</cp:coreProperties>
</file>