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65176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B0F0"/>
                </a:solidFill>
              </a:rPr>
              <a:t>Business Process (To-Be)  —  TeleResolve AI-Powered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BFBFBF"/>
                </a:solidFill>
              </a:rPr>
              <a:t>© 2026 KPMG Assurance and Consulting Services LLP — an Indian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548640"/>
            <a:ext cx="11914632" cy="596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566928"/>
            <a:ext cx="1005840" cy="1389888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66928"/>
            <a:ext cx="10881360" cy="1389888"/>
          </a:xfrm>
          <a:prstGeom prst="rect">
            <a:avLst/>
          </a:prstGeom>
          <a:solidFill>
            <a:srgbClr val="EEF3FB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1956816"/>
            <a:ext cx="1005840" cy="1097280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Admin
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1956816"/>
            <a:ext cx="10881360" cy="1097280"/>
          </a:xfrm>
          <a:prstGeom prst="rect">
            <a:avLst/>
          </a:prstGeom>
          <a:solidFill>
            <a:srgbClr val="F9FB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" y="3054096"/>
            <a:ext cx="1005840" cy="3364992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TeleResolve
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054096"/>
            <a:ext cx="10881360" cy="3364992"/>
          </a:xfrm>
          <a:prstGeom prst="rect">
            <a:avLst/>
          </a:prstGeom>
          <a:solidFill>
            <a:srgbClr val="EEF3FB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1060704"/>
            <a:ext cx="658368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47088" y="1261872"/>
            <a:ext cx="3017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2148840" y="950976"/>
            <a:ext cx="960120" cy="621792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Existing
User?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48" y="89611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628900" y="621792"/>
            <a:ext cx="0" cy="329184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28900" y="621792"/>
            <a:ext cx="859993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28832" y="621792"/>
            <a:ext cx="0" cy="438912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45536" y="115214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1261872"/>
            <a:ext cx="20116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10128" y="1060704"/>
            <a:ext cx="9601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Register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70248" y="1261872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53128" y="1060704"/>
            <a:ext cx="10515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Create
Password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04688" y="1261872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87568" y="1060704"/>
            <a:ext cx="10515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Generate
OTP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39128" y="1261872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39128" y="1261872"/>
            <a:ext cx="400507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744200" y="1060704"/>
            <a:ext cx="914400" cy="402336"/>
          </a:xfrm>
          <a:prstGeom prst="roundRect">
            <a:avLst>
              <a:gd name="adj" fmla="val 9000"/>
            </a:avLst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Login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85616" y="1463039"/>
            <a:ext cx="0" cy="950977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3291840" y="2304288"/>
            <a:ext cx="1005840" cy="658368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Admin
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253288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No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234440" y="2633472"/>
            <a:ext cx="205740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34440" y="2432304"/>
            <a:ext cx="822960" cy="402336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Reject &amp;
Notify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253288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Yes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97680" y="2633472"/>
            <a:ext cx="1911096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208776" y="1463039"/>
            <a:ext cx="0" cy="1170433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184148" y="3598163"/>
            <a:ext cx="320040" cy="320040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01400" y="1463039"/>
            <a:ext cx="0" cy="2295144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201400" y="1463039"/>
            <a:ext cx="0" cy="182880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344168" y="3291839"/>
            <a:ext cx="985723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44168" y="3291839"/>
            <a:ext cx="0" cy="306324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04188" y="3758183"/>
            <a:ext cx="20116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705356" y="3557015"/>
            <a:ext cx="20574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Submit
Complaint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62756" y="3758183"/>
            <a:ext cx="11887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881628" y="3557015"/>
            <a:ext cx="20574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 Active
Tickets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39028" y="3758183"/>
            <a:ext cx="11887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057900" y="3557015"/>
            <a:ext cx="20574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Recent
Sessions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115300" y="3758183"/>
            <a:ext cx="11887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234171" y="3557015"/>
            <a:ext cx="20574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 AI
Chat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291572" y="3758183"/>
            <a:ext cx="11887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0410443" y="3557015"/>
            <a:ext cx="20574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Upload
Evidence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2467843" y="3758183"/>
            <a:ext cx="411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2508991" y="3598163"/>
            <a:ext cx="320040" cy="320040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2669011" y="3918203"/>
            <a:ext cx="0" cy="818389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1251691" y="4736592"/>
            <a:ext cx="141732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251691" y="4736592"/>
            <a:ext cx="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0062971" y="4535424"/>
            <a:ext cx="11887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Select Issue
Category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9925811" y="4736592"/>
            <a:ext cx="1371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925811" y="4736592"/>
            <a:ext cx="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737091" y="4535424"/>
            <a:ext cx="11887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
Dashboard</a:t>
            </a:r>
          </a:p>
        </p:txBody>
      </p:sp>
      <p:sp>
        <p:nvSpPr>
          <p:cNvPr id="64" name="Oval 63"/>
          <p:cNvSpPr/>
          <p:nvPr/>
        </p:nvSpPr>
        <p:spPr>
          <a:xfrm>
            <a:off x="1184148" y="5582412"/>
            <a:ext cx="320040" cy="320040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344168" y="3918203"/>
            <a:ext cx="0" cy="1664209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504188" y="5742432"/>
            <a:ext cx="20574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1709928" y="5541264"/>
            <a:ext cx="1143000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Start AI
Chat Session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52928" y="5742432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035808" y="5582412"/>
            <a:ext cx="320040" cy="320040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035808" y="5742432"/>
            <a:ext cx="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355848" y="5742432"/>
            <a:ext cx="16002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515868" y="5541264"/>
            <a:ext cx="12801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Run Network
Diagnosis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796028" y="5742432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4978908" y="5582412"/>
            <a:ext cx="320040" cy="320040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978908" y="5742432"/>
            <a:ext cx="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298948" y="5742432"/>
            <a:ext cx="16002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458968" y="5541264"/>
            <a:ext cx="123444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Live
Dashboard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693408" y="5742432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6876288" y="5541264"/>
            <a:ext cx="713232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End</a:t>
            </a:r>
          </a:p>
        </p:txBody>
      </p:sp>
      <p:cxnSp>
        <p:nvCxnSpPr>
          <p:cNvPr id="80" name="Connector 79"/>
          <p:cNvCxnSpPr/>
          <p:nvPr/>
        </p:nvCxnSpPr>
        <p:spPr>
          <a:xfrm flipH="1">
            <a:off x="8462771" y="4736592"/>
            <a:ext cx="27432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62771" y="4736592"/>
            <a:ext cx="0" cy="402336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4978908" y="5742432"/>
            <a:ext cx="3483863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1252728" y="6263640"/>
            <a:ext cx="822960" cy="347472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Start
new Chat</a:t>
            </a:r>
          </a:p>
        </p:txBody>
      </p:sp>
      <p:cxnSp>
        <p:nvCxnSpPr>
          <p:cNvPr id="84" name="Connector 83"/>
          <p:cNvCxnSpPr/>
          <p:nvPr/>
        </p:nvCxnSpPr>
        <p:spPr>
          <a:xfrm flipH="1" flipV="1">
            <a:off x="1344168" y="5902452"/>
            <a:ext cx="320040" cy="361188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