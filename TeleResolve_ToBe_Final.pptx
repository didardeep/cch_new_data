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54864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6. Business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274320"/>
            <a:ext cx="9144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00B0F0"/>
                </a:solidFill>
              </a:rPr>
              <a:t>Business Process (To-Be)  —  TeleResolve AI-Powered Complaint Handling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28816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>
                <a:solidFill>
                  <a:srgbClr val="BFBFBF"/>
                </a:solidFill>
              </a:rPr>
              <a:t>© 2026 KPMG Assurance and Consulting Services LLP an Indian Limited Liability Partnership and a member firm of the KPMG global organization of independent member firms affiliated with KPMG International Limited, a private English company limited by guarantee. All rights reserved.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" y="548640"/>
            <a:ext cx="11914632" cy="5870448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" y="566928"/>
            <a:ext cx="1005840" cy="1371600"/>
          </a:xfrm>
          <a:prstGeom prst="rect">
            <a:avLst/>
          </a:prstGeom>
          <a:solidFill>
            <a:srgbClr val="1F396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Customer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566928"/>
            <a:ext cx="10908792" cy="1371600"/>
          </a:xfrm>
          <a:prstGeom prst="rect">
            <a:avLst/>
          </a:prstGeom>
          <a:solidFill>
            <a:srgbClr val="ECF2FB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" y="1938528"/>
            <a:ext cx="1005840" cy="987552"/>
          </a:xfrm>
          <a:prstGeom prst="rect">
            <a:avLst/>
          </a:prstGeom>
          <a:solidFill>
            <a:srgbClr val="1F396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Admin
Approval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1938528"/>
            <a:ext cx="10908792" cy="987552"/>
          </a:xfrm>
          <a:prstGeom prst="rect">
            <a:avLst/>
          </a:prstGeom>
          <a:solidFill>
            <a:srgbClr val="F8FBFF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" y="2926080"/>
            <a:ext cx="1005840" cy="3493008"/>
          </a:xfrm>
          <a:prstGeom prst="rect">
            <a:avLst/>
          </a:prstGeom>
          <a:solidFill>
            <a:srgbClr val="1F396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TeleResolve
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2926080"/>
            <a:ext cx="10908792" cy="3493008"/>
          </a:xfrm>
          <a:prstGeom prst="rect">
            <a:avLst/>
          </a:prstGeom>
          <a:solidFill>
            <a:srgbClr val="ECF2FB"/>
          </a:solidFill>
          <a:ln w="635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8720" y="1051560"/>
            <a:ext cx="658368" cy="402336"/>
          </a:xfrm>
          <a:prstGeom prst="ellipse">
            <a:avLst/>
          </a:prstGeom>
          <a:solidFill>
            <a:srgbClr val="1F396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Start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847088" y="1252728"/>
            <a:ext cx="164592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/>
          <p:cNvSpPr/>
          <p:nvPr/>
        </p:nvSpPr>
        <p:spPr>
          <a:xfrm>
            <a:off x="2011680" y="941832"/>
            <a:ext cx="960120" cy="621792"/>
          </a:xfrm>
          <a:prstGeom prst="diamond">
            <a:avLst/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Existing
User?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28316" y="612647"/>
            <a:ext cx="274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353535"/>
                </a:solidFill>
              </a:rPr>
              <a:t>Yes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2491740" y="630936"/>
            <a:ext cx="0" cy="310896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491740" y="630936"/>
            <a:ext cx="8755380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247120" y="630936"/>
            <a:ext cx="0" cy="420624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008376" y="1124712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353535"/>
                </a:solidFill>
              </a:rPr>
              <a:t>No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971800" y="1252728"/>
            <a:ext cx="228600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200400" y="1051560"/>
            <a:ext cx="960120" cy="402336"/>
          </a:xfrm>
          <a:prstGeom prst="roundRect">
            <a:avLst>
              <a:gd name="adj" fmla="val 9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</a:rPr>
              <a:t>Register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160520" y="1252728"/>
            <a:ext cx="164592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325112" y="1051560"/>
            <a:ext cx="1097280" cy="402336"/>
          </a:xfrm>
          <a:prstGeom prst="roundRect">
            <a:avLst>
              <a:gd name="adj" fmla="val 9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Create
Password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22392" y="1252728"/>
            <a:ext cx="164591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586983" y="1051560"/>
            <a:ext cx="1097280" cy="402336"/>
          </a:xfrm>
          <a:prstGeom prst="roundRect">
            <a:avLst>
              <a:gd name="adj" fmla="val 9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Generate
OTP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684264" y="1252728"/>
            <a:ext cx="4059936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744200" y="1051560"/>
            <a:ext cx="914400" cy="402336"/>
          </a:xfrm>
          <a:prstGeom prst="roundRect">
            <a:avLst>
              <a:gd name="adj" fmla="val 9000"/>
            </a:avLst>
          </a:prstGeom>
          <a:solidFill>
            <a:srgbClr val="1F396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Login</a:t>
            </a:r>
          </a:p>
        </p:txBody>
      </p:sp>
      <p:sp>
        <p:nvSpPr>
          <p:cNvPr id="31" name="Diamond 30"/>
          <p:cNvSpPr/>
          <p:nvPr/>
        </p:nvSpPr>
        <p:spPr>
          <a:xfrm>
            <a:off x="3200400" y="2112264"/>
            <a:ext cx="960120" cy="640080"/>
          </a:xfrm>
          <a:prstGeom prst="diamond">
            <a:avLst/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Admin
Approval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680460" y="1453896"/>
            <a:ext cx="0" cy="658368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944368" y="2340864"/>
            <a:ext cx="228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353535"/>
                </a:solidFill>
              </a:rPr>
              <a:t>No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1234440" y="2432304"/>
            <a:ext cx="1965960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234440" y="2231136"/>
            <a:ext cx="868680" cy="402336"/>
          </a:xfrm>
          <a:prstGeom prst="roundRect">
            <a:avLst>
              <a:gd name="adj" fmla="val 9000"/>
            </a:avLst>
          </a:prstGeom>
          <a:solidFill>
            <a:srgbClr val="C0000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Reject &amp;
Notify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97096" y="2340864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353535"/>
                </a:solidFill>
              </a:rPr>
              <a:t>Yes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160520" y="2432304"/>
            <a:ext cx="7040880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1201400" y="1453896"/>
            <a:ext cx="0" cy="978408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201400" y="1453896"/>
            <a:ext cx="0" cy="1673352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1325880" y="3127248"/>
            <a:ext cx="9875520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325880" y="3127248"/>
            <a:ext cx="0" cy="278892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1165860" y="3406140"/>
            <a:ext cx="320040" cy="320040"/>
          </a:xfrm>
          <a:prstGeom prst="ellipse">
            <a:avLst/>
          </a:prstGeom>
          <a:solidFill>
            <a:srgbClr val="353535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1">
                <a:solidFill>
                  <a:srgbClr val="FFFFFF"/>
                </a:solidFill>
              </a:rPr>
              <a:t>X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85900" y="3566160"/>
            <a:ext cx="109728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1595628" y="3364992"/>
            <a:ext cx="1889150" cy="402336"/>
          </a:xfrm>
          <a:prstGeom prst="roundRect">
            <a:avLst>
              <a:gd name="adj" fmla="val 9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Submit
Complaint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484778" y="3566160"/>
            <a:ext cx="128016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3612794" y="3364992"/>
            <a:ext cx="1889150" cy="402336"/>
          </a:xfrm>
          <a:prstGeom prst="roundRect">
            <a:avLst>
              <a:gd name="adj" fmla="val 9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View Active
Tickets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501944" y="3566160"/>
            <a:ext cx="128016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5629960" y="3364992"/>
            <a:ext cx="1889150" cy="402336"/>
          </a:xfrm>
          <a:prstGeom prst="roundRect">
            <a:avLst>
              <a:gd name="adj" fmla="val 9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Recent
Sessions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519111" y="3566160"/>
            <a:ext cx="128016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7647127" y="3364992"/>
            <a:ext cx="1889150" cy="402336"/>
          </a:xfrm>
          <a:prstGeom prst="roundRect">
            <a:avLst>
              <a:gd name="adj" fmla="val 9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Network AI
Chat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536277" y="3566160"/>
            <a:ext cx="128016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9664293" y="3364992"/>
            <a:ext cx="1889150" cy="402336"/>
          </a:xfrm>
          <a:prstGeom prst="roundRect">
            <a:avLst>
              <a:gd name="adj" fmla="val 9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Upload
Evidence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1553443" y="3566160"/>
            <a:ext cx="109729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11663172" y="3406140"/>
            <a:ext cx="320040" cy="320040"/>
          </a:xfrm>
          <a:prstGeom prst="ellipse">
            <a:avLst/>
          </a:prstGeom>
          <a:solidFill>
            <a:srgbClr val="353535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1">
                <a:solidFill>
                  <a:srgbClr val="FFFFFF"/>
                </a:solidFill>
              </a:rPr>
              <a:t>X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1823192" y="3726180"/>
            <a:ext cx="0" cy="98298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5806440" y="4709160"/>
            <a:ext cx="6016752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971031" y="4507992"/>
            <a:ext cx="1508760" cy="402336"/>
          </a:xfrm>
          <a:prstGeom prst="roundRect">
            <a:avLst>
              <a:gd name="adj" fmla="val 9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View
Dashboard</a:t>
            </a:r>
          </a:p>
        </p:txBody>
      </p:sp>
      <p:cxnSp>
        <p:nvCxnSpPr>
          <p:cNvPr id="58" name="Connector 57"/>
          <p:cNvCxnSpPr/>
          <p:nvPr/>
        </p:nvCxnSpPr>
        <p:spPr>
          <a:xfrm flipH="1">
            <a:off x="5806440" y="4709160"/>
            <a:ext cx="164591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4297680" y="4507992"/>
            <a:ext cx="1508760" cy="402336"/>
          </a:xfrm>
          <a:prstGeom prst="roundRect">
            <a:avLst>
              <a:gd name="adj" fmla="val 9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Select Issue
Category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806440" y="4709160"/>
            <a:ext cx="164591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725412" y="4910328"/>
            <a:ext cx="0" cy="781812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325880" y="3726180"/>
            <a:ext cx="0" cy="212598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325880" y="5852160"/>
            <a:ext cx="269748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1595628" y="5650992"/>
            <a:ext cx="914400" cy="402336"/>
          </a:xfrm>
          <a:prstGeom prst="ellipse">
            <a:avLst/>
          </a:prstGeom>
          <a:solidFill>
            <a:srgbClr val="1F396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Start AI
Chat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2510028" y="5852160"/>
            <a:ext cx="182880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2692908" y="5692140"/>
            <a:ext cx="320040" cy="320040"/>
          </a:xfrm>
          <a:prstGeom prst="ellipse">
            <a:avLst/>
          </a:prstGeom>
          <a:solidFill>
            <a:srgbClr val="353535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1">
                <a:solidFill>
                  <a:srgbClr val="FFFFFF"/>
                </a:solidFill>
              </a:rPr>
              <a:t>X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3012948" y="5852160"/>
            <a:ext cx="109728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3122676" y="5650992"/>
            <a:ext cx="1417320" cy="402336"/>
          </a:xfrm>
          <a:prstGeom prst="roundRect">
            <a:avLst>
              <a:gd name="adj" fmla="val 9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Run Network
Diagnosis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4539996" y="5852160"/>
            <a:ext cx="2025396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6565392" y="5692140"/>
            <a:ext cx="320040" cy="320040"/>
          </a:xfrm>
          <a:prstGeom prst="ellipse">
            <a:avLst/>
          </a:prstGeom>
          <a:solidFill>
            <a:srgbClr val="353535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1">
                <a:solidFill>
                  <a:srgbClr val="FFFFFF"/>
                </a:solidFill>
              </a:rPr>
              <a:t>X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885431" y="5852160"/>
            <a:ext cx="164592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7050023" y="5650992"/>
            <a:ext cx="1371600" cy="402336"/>
          </a:xfrm>
          <a:prstGeom prst="roundRect">
            <a:avLst>
              <a:gd name="adj" fmla="val 9000"/>
            </a:avLst>
          </a:prstGeom>
          <a:solidFill>
            <a:srgbClr val="4172C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FFFFFF"/>
                </a:solidFill>
              </a:rPr>
              <a:t>Live
Dashboard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8421624" y="5852160"/>
            <a:ext cx="164591" cy="0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8586215" y="5650992"/>
            <a:ext cx="685800" cy="402336"/>
          </a:xfrm>
          <a:prstGeom prst="ellipse">
            <a:avLst/>
          </a:prstGeom>
          <a:solidFill>
            <a:srgbClr val="1F396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End</a:t>
            </a:r>
          </a:p>
        </p:txBody>
      </p:sp>
      <p:sp>
        <p:nvSpPr>
          <p:cNvPr id="75" name="Oval 74"/>
          <p:cNvSpPr/>
          <p:nvPr/>
        </p:nvSpPr>
        <p:spPr>
          <a:xfrm>
            <a:off x="1234440" y="6345936"/>
            <a:ext cx="868680" cy="347472"/>
          </a:xfrm>
          <a:prstGeom prst="ellipse">
            <a:avLst/>
          </a:prstGeom>
          <a:solidFill>
            <a:srgbClr val="1F396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FFFFFF"/>
                </a:solidFill>
              </a:rPr>
              <a:t>Start new
Chat</a:t>
            </a:r>
          </a:p>
        </p:txBody>
      </p:sp>
      <p:cxnSp>
        <p:nvCxnSpPr>
          <p:cNvPr id="76" name="Connector 75"/>
          <p:cNvCxnSpPr/>
          <p:nvPr/>
        </p:nvCxnSpPr>
        <p:spPr>
          <a:xfrm flipH="1" flipV="1">
            <a:off x="1325880" y="6012180"/>
            <a:ext cx="342900" cy="333756"/>
          </a:xfrm>
          <a:prstGeom prst="line">
            <a:avLst/>
          </a:prstGeom>
          <a:ln w="12700">
            <a:solidFill>
              <a:srgbClr val="353535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