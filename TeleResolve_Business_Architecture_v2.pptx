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KPMG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TeleResolve
Telecom Customer Complaint Handling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B0F0"/>
                </a:solidFill>
              </a:rPr>
              <a:t>Business Architecture  |  As-Is Process  |  To-Be Process  | 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931920"/>
            <a:ext cx="9418320" cy="274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0690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DB8E8"/>
                </a:solidFill>
              </a:rPr>
              <a:t>TeleResolve Team  |  April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54864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6. Business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27432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B0F0"/>
                </a:solidFill>
              </a:rPr>
              <a:t>Business Process (As-Is) — Manual Complaint Handling (TeleResolve)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548640"/>
            <a:ext cx="11914632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960120"/>
            <a:ext cx="621792" cy="384048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Start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41832" y="1152144"/>
            <a:ext cx="384048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1325880" y="841248"/>
            <a:ext cx="1005840" cy="621792"/>
          </a:xfrm>
          <a:prstGeom prst="diamond">
            <a:avLst/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Complaint
Details
Available?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1024128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</a:rPr>
              <a:t>Yes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1720" y="1152144"/>
            <a:ext cx="39319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24912" y="950976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Collect
Customer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76472" y="1143000"/>
            <a:ext cx="384048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60520" y="950976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Run Manual
Triage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12080" y="1143000"/>
            <a:ext cx="374904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34440" y="1490472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</a:rPr>
              <a:t>No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19656" y="1463040"/>
            <a:ext cx="0" cy="411479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325880" y="1874519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Request
Customer Info
/ Evidence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2066543"/>
            <a:ext cx="384048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61488" y="1874519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Receive
Complaint Info
/ Call Log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13048" y="2066543"/>
            <a:ext cx="384048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97096" y="1874519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Identify
Issue
Manually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48656" y="2066543"/>
            <a:ext cx="384048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5632704" y="1755648"/>
            <a:ext cx="1005840" cy="621792"/>
          </a:xfrm>
          <a:prstGeom prst="diamond">
            <a:avLst/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Escalation
/ Follow-up
Required?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5976" y="192024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</a:rPr>
              <a:t>Yes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38544" y="2066543"/>
            <a:ext cx="384048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022592" y="1874519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Escalation &amp;
Remediation
Tracking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74152" y="2066543"/>
            <a:ext cx="384048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458200" y="950976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Reviewer /
Manager
Review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988552" y="1335024"/>
            <a:ext cx="0" cy="539495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92640" y="950976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Finalize &amp;
Close Ticket
Manually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09760" y="1143000"/>
            <a:ext cx="18288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744200" y="1143000"/>
            <a:ext cx="338328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1082528" y="960120"/>
            <a:ext cx="621792" cy="384048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Stop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61488" y="283464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Manual Categorization / Priority Assignment / SLA Tracking / Resolution Steps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718304" y="2258568"/>
            <a:ext cx="0" cy="576072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718304" y="2258568"/>
            <a:ext cx="0" cy="1078992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28600" y="3429000"/>
            <a:ext cx="11731752" cy="2697480"/>
          </a:xfrm>
          <a:prstGeom prst="roundRect">
            <a:avLst>
              <a:gd name="adj" fmla="val 8000"/>
            </a:avLst>
          </a:prstGeom>
          <a:solidFill>
            <a:srgbClr val="DAE3F3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4930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964"/>
                </a:solidFill>
              </a:rPr>
              <a:t>Key Pain Points (As-Is)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3794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• No unified complaint portal — customers call/email manually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794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• No AI-assisted diagnosis — engineers investigate manually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422452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• Ticket creation via spreadsheets — no real-time tracking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22452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• No SLA alerts — breaches go unnoticed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65429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• Manual escalation via email/phone — slow response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465429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• No change request audit trail — RF changes undocumented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08406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• No network KPI visibility for agents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08406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• No CSAT collection — no feedback loop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5138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• No geospatial view of impacted sites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55138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• No analytics dashboard for CTO decision-making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" y="65379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FBFBF"/>
                </a:solidFill>
              </a:rPr>
              <a:t>© 2026 KPMG Assurance and Consulting Services LLP  |  Business Architecture — As-Is Process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54864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6. Business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27432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B0F0"/>
                </a:solidFill>
              </a:rPr>
              <a:t>Business Process (To-Be) — TeleResolve AI-Powered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548640"/>
            <a:ext cx="11914632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594360"/>
            <a:ext cx="1005840" cy="1371600"/>
          </a:xfrm>
          <a:prstGeom prst="rect">
            <a:avLst/>
          </a:prstGeom>
          <a:solidFill>
            <a:srgbClr val="1F39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0432" y="594360"/>
            <a:ext cx="10881360" cy="1371600"/>
          </a:xfrm>
          <a:prstGeom prst="rect">
            <a:avLst/>
          </a:prstGeom>
          <a:solidFill>
            <a:srgbClr val="EEF3FB"/>
          </a:solidFill>
          <a:ln w="508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" y="2011680"/>
            <a:ext cx="1005840" cy="1005840"/>
          </a:xfrm>
          <a:prstGeom prst="rect">
            <a:avLst/>
          </a:prstGeom>
          <a:solidFill>
            <a:srgbClr val="1F39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Admin
Approval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2011680"/>
            <a:ext cx="10881360" cy="10058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" y="3063240"/>
            <a:ext cx="1005840" cy="3063240"/>
          </a:xfrm>
          <a:prstGeom prst="rect">
            <a:avLst/>
          </a:prstGeom>
          <a:solidFill>
            <a:srgbClr val="1F39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TeleResolve
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3063240"/>
            <a:ext cx="10881360" cy="3063240"/>
          </a:xfrm>
          <a:prstGeom prst="rect">
            <a:avLst/>
          </a:prstGeom>
          <a:solidFill>
            <a:srgbClr val="EEF3FB"/>
          </a:solidFill>
          <a:ln w="508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34440" y="749808"/>
            <a:ext cx="640080" cy="384048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Start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74519" y="941832"/>
            <a:ext cx="365761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mond 14"/>
          <p:cNvSpPr/>
          <p:nvPr/>
        </p:nvSpPr>
        <p:spPr>
          <a:xfrm>
            <a:off x="2240280" y="658368"/>
            <a:ext cx="914400" cy="566928"/>
          </a:xfrm>
          <a:prstGeom prst="diamond">
            <a:avLst/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Existing
User?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822959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</a:rPr>
              <a:t>No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54680" y="941832"/>
            <a:ext cx="36576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20440" y="749808"/>
            <a:ext cx="91440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Register
(Web / App)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34840" y="941832"/>
            <a:ext cx="36576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800600" y="749808"/>
            <a:ext cx="91440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Create
Password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15000" y="941832"/>
            <a:ext cx="36576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80760" y="749808"/>
            <a:ext cx="91440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Generate
OTP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95160" y="941832"/>
            <a:ext cx="242316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06040" y="621792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</a:rPr>
              <a:t>Yes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697480" y="429768"/>
            <a:ext cx="0" cy="22860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97480" y="429768"/>
            <a:ext cx="704088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738360" y="429768"/>
            <a:ext cx="0" cy="32004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418320" y="749808"/>
            <a:ext cx="914400" cy="384048"/>
          </a:xfrm>
          <a:prstGeom prst="roundRect">
            <a:avLst>
              <a:gd name="adj" fmla="val 8000"/>
            </a:avLst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Login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77639" y="1133856"/>
            <a:ext cx="0" cy="1115568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iamond 29"/>
          <p:cNvSpPr/>
          <p:nvPr/>
        </p:nvSpPr>
        <p:spPr>
          <a:xfrm>
            <a:off x="3520440" y="2212848"/>
            <a:ext cx="914400" cy="548640"/>
          </a:xfrm>
          <a:prstGeom prst="diamond">
            <a:avLst/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Admin
Approval?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24688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</a:rPr>
              <a:t>No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371600" y="2487168"/>
            <a:ext cx="1709928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188720" y="2304288"/>
            <a:ext cx="914400" cy="384048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Reject &amp;
Notify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2340864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</a:rPr>
              <a:t>Yes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34840" y="2487168"/>
            <a:ext cx="118872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623560" y="1133856"/>
            <a:ext cx="0" cy="1353312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875520" y="1133856"/>
            <a:ext cx="0" cy="2130552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316736" y="3291839"/>
            <a:ext cx="329184" cy="329184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X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645920" y="3456432"/>
            <a:ext cx="36576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011680" y="3264408"/>
            <a:ext cx="96012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Submit
Complaint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971800" y="3456432"/>
            <a:ext cx="9144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063240" y="3264408"/>
            <a:ext cx="96012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View Active
Tickets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023360" y="3456432"/>
            <a:ext cx="9144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114800" y="3264408"/>
            <a:ext cx="96012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Recent
Sessions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74920" y="3456432"/>
            <a:ext cx="9144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166360" y="3264408"/>
            <a:ext cx="96012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Network AI
Chat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126480" y="3456432"/>
            <a:ext cx="9144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217920" y="3264408"/>
            <a:ext cx="96012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Upload
Evidence</a:t>
            </a:r>
          </a:p>
        </p:txBody>
      </p:sp>
      <p:sp>
        <p:nvSpPr>
          <p:cNvPr id="49" name="Oval 48"/>
          <p:cNvSpPr/>
          <p:nvPr/>
        </p:nvSpPr>
        <p:spPr>
          <a:xfrm>
            <a:off x="7178040" y="3291839"/>
            <a:ext cx="329184" cy="329184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0" y="4041648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Select Issue
Category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349240" y="4233672"/>
            <a:ext cx="36576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715000" y="4041648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View
Dashboard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342632" y="3648456"/>
            <a:ext cx="0" cy="585216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4114800" y="4233672"/>
            <a:ext cx="322783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1316736" y="4846320"/>
            <a:ext cx="329184" cy="329184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X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481328" y="3648456"/>
            <a:ext cx="0" cy="1170432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645920" y="5010912"/>
            <a:ext cx="36576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2011680" y="4818888"/>
            <a:ext cx="96012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Start New
Chat Session</a:t>
            </a:r>
          </a:p>
        </p:txBody>
      </p:sp>
      <p:sp>
        <p:nvSpPr>
          <p:cNvPr id="59" name="Oval 58"/>
          <p:cNvSpPr/>
          <p:nvPr/>
        </p:nvSpPr>
        <p:spPr>
          <a:xfrm>
            <a:off x="2971800" y="4846320"/>
            <a:ext cx="329184" cy="329184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X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971800" y="5010912"/>
            <a:ext cx="7315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227832" y="5010912"/>
            <a:ext cx="7315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300984" y="4818888"/>
            <a:ext cx="96012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AI Triage &amp;
Resolution</a:t>
            </a:r>
          </a:p>
        </p:txBody>
      </p:sp>
      <p:sp>
        <p:nvSpPr>
          <p:cNvPr id="63" name="Oval 62"/>
          <p:cNvSpPr/>
          <p:nvPr/>
        </p:nvSpPr>
        <p:spPr>
          <a:xfrm>
            <a:off x="4261104" y="4846320"/>
            <a:ext cx="329184" cy="329184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X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261104" y="5010912"/>
            <a:ext cx="7315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17136" y="5010912"/>
            <a:ext cx="7315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4590288" y="4818888"/>
            <a:ext cx="96012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Run Network
Diagnosis</a:t>
            </a:r>
          </a:p>
        </p:txBody>
      </p:sp>
      <p:sp>
        <p:nvSpPr>
          <p:cNvPr id="67" name="Oval 66"/>
          <p:cNvSpPr/>
          <p:nvPr/>
        </p:nvSpPr>
        <p:spPr>
          <a:xfrm>
            <a:off x="5550408" y="4846320"/>
            <a:ext cx="329184" cy="329184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</a:rPr>
              <a:t>X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550408" y="5010912"/>
            <a:ext cx="7315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806440" y="5010912"/>
            <a:ext cx="73152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5879592" y="4818888"/>
            <a:ext cx="960120" cy="384048"/>
          </a:xfrm>
          <a:prstGeom prst="roundRect">
            <a:avLst>
              <a:gd name="adj" fmla="val 8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Live
Dashboard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839712" y="5010912"/>
            <a:ext cx="13716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6976872" y="4818888"/>
            <a:ext cx="640080" cy="384048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End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875520" y="3264408"/>
            <a:ext cx="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49440" y="4233672"/>
            <a:ext cx="2651760" cy="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601200" y="4233672"/>
            <a:ext cx="0" cy="777240"/>
          </a:xfrm>
          <a:prstGeom prst="line">
            <a:avLst/>
          </a:prstGeom>
          <a:ln w="12700">
            <a:solidFill>
              <a:srgbClr val="40404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2880" y="65379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FBFBF"/>
                </a:solidFill>
              </a:rPr>
              <a:t>© 2026 KPMG Assurance and Consulting Services LLP  |  Business Architecture — To-Be Process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54864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7.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27432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B0F0"/>
                </a:solidFill>
              </a:rPr>
              <a:t>TeleResolve Platform 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548640"/>
            <a:ext cx="11914632" cy="5989320"/>
          </a:xfrm>
          <a:prstGeom prst="rect">
            <a:avLst/>
          </a:prstGeom>
          <a:solidFill>
            <a:srgbClr val="FFFFFF"/>
          </a:solidFill>
          <a:ln w="1524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40080"/>
            <a:ext cx="11640312" cy="59893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417320" cy="841248"/>
          </a:xfrm>
          <a:prstGeom prst="roundRect">
            <a:avLst>
              <a:gd name="adj" fmla="val 8000"/>
            </a:avLst>
          </a:prstGeom>
          <a:solidFill>
            <a:srgbClr val="C57C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TeleResolve
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868680"/>
            <a:ext cx="2834640" cy="475488"/>
          </a:xfrm>
          <a:prstGeom prst="roundRect">
            <a:avLst>
              <a:gd name="adj" fmla="val 3000"/>
            </a:avLst>
          </a:prstGeom>
          <a:solidFill>
            <a:srgbClr val="70AD4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Current State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0" y="1106424"/>
            <a:ext cx="137160" cy="0"/>
          </a:xfrm>
          <a:prstGeom prst="line">
            <a:avLst/>
          </a:prstGeom>
          <a:ln w="25400">
            <a:solidFill>
              <a:srgbClr val="70AD47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868680"/>
            <a:ext cx="2834640" cy="475488"/>
          </a:xfrm>
          <a:prstGeom prst="roundRect">
            <a:avLst>
              <a:gd name="adj" fmla="val 3000"/>
            </a:avLst>
          </a:prstGeom>
          <a:solidFill>
            <a:srgbClr val="70AD4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Transition 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09560" y="1106424"/>
            <a:ext cx="137160" cy="0"/>
          </a:xfrm>
          <a:prstGeom prst="line">
            <a:avLst/>
          </a:prstGeom>
          <a:ln w="25400">
            <a:solidFill>
              <a:srgbClr val="70AD47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46720" y="868680"/>
            <a:ext cx="2834640" cy="475488"/>
          </a:xfrm>
          <a:prstGeom prst="roundRect">
            <a:avLst>
              <a:gd name="adj" fmla="val 3000"/>
            </a:avLst>
          </a:prstGeom>
          <a:solidFill>
            <a:srgbClr val="70AD4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Target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1444752"/>
            <a:ext cx="2834640" cy="5029200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2848" y="1618488"/>
            <a:ext cx="54864" cy="548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4288" y="1554480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3964"/>
                </a:solidFill>
              </a:rPr>
              <a:t>Phase-In (Start):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1773936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Pilot launch for 1 telecom zone; Customer chatbot, ticket management &amp; agent dashboard go live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12848" y="2788920"/>
            <a:ext cx="54864" cy="548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04288" y="2724912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3964"/>
                </a:solidFill>
              </a:rPr>
              <a:t>Phase-In (End):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2944368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Pilot readiness confirmed; Customer &amp; Agent roles fully tested end-to-end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2848" y="3959352"/>
            <a:ext cx="54864" cy="548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04288" y="3895344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3964"/>
                </a:solidFill>
              </a:rPr>
              <a:t>Phase-Out (Start):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4288" y="4114800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Manual spreadsheet-based complaint logging begins phased reduction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12848" y="5129784"/>
            <a:ext cx="54864" cy="548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04288" y="5065776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3964"/>
                </a:solidFill>
              </a:rPr>
              <a:t>Phase-Out (End):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5285232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Pilot zone fully migrated to TeleResolve; legacy spreadsheets retired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1444752"/>
            <a:ext cx="2834640" cy="5029200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84648" y="1618488"/>
            <a:ext cx="54864" cy="548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76088" y="1554480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3964"/>
                </a:solidFill>
              </a:rPr>
              <a:t>Phase-In (Start):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088" y="1773936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UAT rollout to all zones; Manager approvals, CTO dashboards &amp; Network AI modules enabled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4648" y="2788920"/>
            <a:ext cx="54864" cy="548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088" y="2724912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3964"/>
                </a:solidFill>
              </a:rPr>
              <a:t>Phase-In (End):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2944368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Controlled production rollout complete; SLA tracking &amp; WhatsApp alerts live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84648" y="3959352"/>
            <a:ext cx="54864" cy="548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76088" y="3895344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3964"/>
                </a:solidFill>
              </a:rPr>
              <a:t>Phase-Out (Start):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76088" y="4114800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Legacy phone/email escalation channels sunset begins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84648" y="5129784"/>
            <a:ext cx="54864" cy="548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76088" y="5065776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3964"/>
                </a:solidFill>
              </a:rPr>
              <a:t>Phase-Out (End):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6088" y="5285232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All spreadsheet trackers retired; full migration to TeleResolve complete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1444752"/>
            <a:ext cx="2834640" cy="5029200"/>
          </a:xfrm>
          <a:prstGeom prst="rect">
            <a:avLst/>
          </a:prstGeom>
          <a:solidFill>
            <a:srgbClr val="FFFFFF"/>
          </a:solidFill>
          <a:ln w="762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56448" y="1618488"/>
            <a:ext cx="54864" cy="548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7888" y="1554480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3964"/>
                </a:solidFill>
              </a:rPr>
              <a:t>Phase-In (Start):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1773936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Full deployment across all telecom circles; ML pipeline, Change Workflow &amp; KPI analytics live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56448" y="2788920"/>
            <a:ext cx="54864" cy="548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2724912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3964"/>
                </a:solidFill>
              </a:rPr>
              <a:t>Phase-In (End):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2944368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Full business adoption; all 5 roles active — Customer, Agent, Manager, CTO, Admin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56448" y="3959352"/>
            <a:ext cx="54864" cy="548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47888" y="3895344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3964"/>
                </a:solidFill>
              </a:rPr>
              <a:t>Phase-Out (Start):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8" y="4114800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All legacy manual processes retired system-wide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56448" y="5129784"/>
            <a:ext cx="54864" cy="548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47888" y="5065776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3964"/>
                </a:solidFill>
              </a:rPr>
              <a:t>Phase-Out (End):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7888" y="5285232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04040"/>
                </a:solidFill>
              </a:rPr>
              <a:t>100% digital AI-powered complaint resolution; all notifications automated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6291072"/>
            <a:ext cx="11640312" cy="33832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31850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B0F0"/>
                </a:solidFill>
              </a:rPr>
              <a:t>Target Outcomes:   Resolution Time -60%   |   CSAT &gt; 85%   |   SLA Compliance &gt; 95%   |   Manual Effort -80%   |   FCR &gt; 70%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65379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FBFBF"/>
                </a:solidFill>
              </a:rPr>
              <a:t>© 2026 KPMG Assurance and Consulting Services LLP  |  Roadmap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